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4FF"/>
    <a:srgbClr val="B7FF35"/>
    <a:srgbClr val="1B4C14"/>
    <a:srgbClr val="FF1515"/>
    <a:srgbClr val="FF2121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0BDD2-1C87-39C7-F224-A9F6E6D41E84}" v="1" dt="2026-04-15T06:25:59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E100BDD2-1C87-39C7-F224-A9F6E6D41E84}"/>
    <pc:docChg chg="modSld">
      <pc:chgData name="Guest User" userId="" providerId="Windows Live" clId="Web-{E100BDD2-1C87-39C7-F224-A9F6E6D41E84}" dt="2026-04-15T06:25:59.896" v="0" actId="14100"/>
      <pc:docMkLst>
        <pc:docMk/>
      </pc:docMkLst>
      <pc:sldChg chg="modSp">
        <pc:chgData name="Guest User" userId="" providerId="Windows Live" clId="Web-{E100BDD2-1C87-39C7-F224-A9F6E6D41E84}" dt="2026-04-15T06:25:59.896" v="0" actId="14100"/>
        <pc:sldMkLst>
          <pc:docMk/>
          <pc:sldMk cId="0" sldId="258"/>
        </pc:sldMkLst>
        <pc:spChg chg="mod">
          <ac:chgData name="Guest User" userId="" providerId="Windows Live" clId="Web-{E100BDD2-1C87-39C7-F224-A9F6E6D41E84}" dt="2026-04-15T06:25:59.896" v="0" actId="14100"/>
          <ac:spMkLst>
            <pc:docMk/>
            <pc:sldMk cId="0" sldId="258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A</c:v>
                </c:pt>
              </c:strCache>
            </c:strRef>
          </c:tx>
          <c:spPr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3</c:v>
                </c:pt>
                <c:pt idx="3">
                  <c:v>11</c:v>
                </c:pt>
                <c:pt idx="4">
                  <c:v>6</c:v>
                </c:pt>
                <c:pt idx="5">
                  <c:v>14</c:v>
                </c:pt>
                <c:pt idx="6">
                  <c:v>9</c:v>
                </c:pt>
                <c:pt idx="7">
                  <c:v>2</c:v>
                </c:pt>
                <c:pt idx="8">
                  <c:v>13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F7-4C4E-A956-948E63F4C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User B</c:v>
                </c:pt>
              </c:strCache>
            </c:strRef>
          </c:tx>
          <c:spPr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</c:v>
                </c:pt>
                <c:pt idx="1">
                  <c:v>4</c:v>
                </c:pt>
                <c:pt idx="2">
                  <c:v>9</c:v>
                </c:pt>
                <c:pt idx="3">
                  <c:v>2</c:v>
                </c:pt>
                <c:pt idx="4">
                  <c:v>15</c:v>
                </c:pt>
                <c:pt idx="5">
                  <c:v>6</c:v>
                </c:pt>
                <c:pt idx="6">
                  <c:v>11</c:v>
                </c:pt>
                <c:pt idx="7">
                  <c:v>3</c:v>
                </c:pt>
                <c:pt idx="8">
                  <c:v>8</c:v>
                </c:pt>
                <c:pt idx="9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F7-4C4E-A956-948E63F4C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Running Mean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n=5</c:v>
                </c:pt>
                <c:pt idx="1">
                  <c:v>n=10</c:v>
                </c:pt>
                <c:pt idx="2">
                  <c:v>n=20</c:v>
                </c:pt>
                <c:pt idx="3">
                  <c:v>n=50</c:v>
                </c:pt>
                <c:pt idx="4">
                  <c:v>n=100</c:v>
                </c:pt>
                <c:pt idx="5">
                  <c:v>n=200</c:v>
                </c:pt>
                <c:pt idx="6">
                  <c:v>n=500</c:v>
                </c:pt>
                <c:pt idx="7">
                  <c:v>n=1000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8.4</c:v>
                </c:pt>
                <c:pt idx="1">
                  <c:v>7.1</c:v>
                </c:pt>
                <c:pt idx="2">
                  <c:v>6.8</c:v>
                </c:pt>
                <c:pt idx="3">
                  <c:v>6.3</c:v>
                </c:pt>
                <c:pt idx="4">
                  <c:v>6.1</c:v>
                </c:pt>
                <c:pt idx="5">
                  <c:v>6.05</c:v>
                </c:pt>
                <c:pt idx="6">
                  <c:v>6.01</c:v>
                </c:pt>
                <c:pt idx="7">
                  <c:v>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490-4463-A346-0C0A1422DA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 μ=6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n=5</c:v>
                </c:pt>
                <c:pt idx="1">
                  <c:v>n=10</c:v>
                </c:pt>
                <c:pt idx="2">
                  <c:v>n=20</c:v>
                </c:pt>
                <c:pt idx="3">
                  <c:v>n=50</c:v>
                </c:pt>
                <c:pt idx="4">
                  <c:v>n=100</c:v>
                </c:pt>
                <c:pt idx="5">
                  <c:v>n=200</c:v>
                </c:pt>
                <c:pt idx="6">
                  <c:v>n=500</c:v>
                </c:pt>
                <c:pt idx="7">
                  <c:v>n=1000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490-4463-A346-0C0A1422DA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57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236415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2286000"/>
            <a:ext cx="2011680" cy="201168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840480"/>
            <a:ext cx="2286000" cy="45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5764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82881" y="1434302"/>
            <a:ext cx="751114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STATISTICAL </a:t>
            </a:r>
            <a:r>
              <a:rPr lang="en-US" sz="4400" b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440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MAKING SIMULATION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457200" y="2727525"/>
            <a:ext cx="6400800" cy="811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User Behaviour using </a:t>
            </a:r>
            <a:r>
              <a:rPr lang="en-US" sz="1600" i="1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Probability</a:t>
            </a:r>
            <a:r>
              <a:rPr lang="en-US" sz="1600" i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Statistics</a:t>
            </a:r>
            <a:endParaRPr lang="en-US" sz="16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1097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3931920"/>
            <a:ext cx="365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366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>
                <a:solidFill>
                  <a:srgbClr val="B7F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>
              <a:solidFill>
                <a:srgbClr val="B7FF35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1920240" cy="64008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00200"/>
            <a:ext cx="640080" cy="64008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Users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29768" y="28346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platforms operate with millions of simultaneous active users generating events continuously.</a:t>
            </a:r>
            <a:endParaRPr lang="en-US" sz="1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192024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417320"/>
            <a:ext cx="1920240" cy="64008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600200"/>
            <a:ext cx="640080" cy="6400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Individually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578608" y="28346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user's action—clicks, purchases, scrolls—is inherently random and impossible to predict alone.</a:t>
            </a:r>
            <a:endParaRPr lang="en-US" sz="1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2024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20240" cy="64008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600200"/>
            <a:ext cx="640080" cy="640080"/>
          </a:xfrm>
          <a:prstGeom prst="ellipse">
            <a:avLst/>
          </a:prstGeom>
          <a:solidFill>
            <a:srgbClr val="FF1515">
              <a:alpha val="80000"/>
            </a:srgbClr>
          </a:solidFill>
          <a:ln w="12700">
            <a:solidFill>
              <a:srgbClr val="FF151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578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470916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 Aggregate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727448" y="28346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individual randomness, the overall system converges to stable, predictable macro-patterns.</a:t>
            </a:r>
            <a:endParaRPr lang="en-US" sz="1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66560" y="1417320"/>
            <a:ext cx="192024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417320"/>
            <a:ext cx="1920240" cy="64008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600200"/>
            <a:ext cx="640080" cy="640080"/>
          </a:xfrm>
          <a:prstGeom prst="ellipse">
            <a:avLst/>
          </a:prstGeom>
          <a:solidFill>
            <a:srgbClr val="1B4C14">
              <a:alpha val="80000"/>
            </a:srgbClr>
          </a:solidFill>
          <a:ln w="12700">
            <a:solidFill>
              <a:srgbClr val="1B4C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066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6858000" y="23774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876288" y="2834640"/>
            <a:ext cx="1700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probabilistic frameworks (LLN, CLT, Markov) explain and forecast this emergent stability.</a:t>
            </a:r>
            <a:endParaRPr lang="en-US" sz="10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CONCEPTS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55922" y="512470"/>
            <a:ext cx="8330878" cy="493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Statistical Foundations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Large Numbers (LLN)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converges to the true expected value as observations grow.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3383280" cy="4114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  →  E[X]  as  n → ∞</a:t>
            </a:r>
            <a:endParaRPr lang="en-US" sz="1400">
              <a:solidFill>
                <a:srgbClr val="00D4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9319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40971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 (CLT)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029200" y="16642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means form a normal distribution regardless of underlying distribution.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120640" y="2176272"/>
            <a:ext cx="3383280" cy="4114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1762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(X̄ − μ) / (σ / √n)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39319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7180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Property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548640" y="34015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depends only on current state—not the full history of past states.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640080" y="3913632"/>
            <a:ext cx="3383280" cy="411480"/>
          </a:xfrm>
          <a:prstGeom prst="rect">
            <a:avLst/>
          </a:prstGeom>
          <a:solidFill>
            <a:schemeClr val="tx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136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P(Xₙ₊₁ | Xₙ)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846320" y="2971800"/>
            <a:ext cx="393192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97180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Model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029200" y="34015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added to the previous position, modeling stochastic price/behavior paths.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120640" y="3913632"/>
            <a:ext cx="3383280" cy="411480"/>
          </a:xfrm>
          <a:prstGeom prst="rect">
            <a:avLst/>
          </a:prstGeom>
          <a:solidFill>
            <a:schemeClr val="tx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9136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Sₙ = Sₙ₋₁ + Xₙ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CONCEPTS 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Probability Distributions &amp; Risk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2588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(Expected Value)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432304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916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E(X) = Σ xP(x)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all possible values—the centre of a probability distribution.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651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2344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32588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264408" y="1691640"/>
            <a:ext cx="2432304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6916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Var(X) = E(X²) − [E(X)]²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3264408" y="21031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spread of a distribution; the foundation of risk quantification.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2588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144768" y="1691640"/>
            <a:ext cx="2432304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69164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P(A|B) = [P(B|A)P(A)] / P(B)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144768" y="210312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probability of a hypothesis given new observed evidence.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2651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089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2004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Distribution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384048" y="3566160"/>
            <a:ext cx="2432304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661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P(X=k) = (e⁻λ λᵏ) / k!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84048" y="397764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probability of a number of events in a fixed time interval.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3154680" y="3108960"/>
            <a:ext cx="2651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108960"/>
            <a:ext cx="26517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2004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Distribution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3264408" y="3566160"/>
            <a:ext cx="2432304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5661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πP = π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264408" y="397764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probability vector of a Markov chain that remains unchanged under transitions.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035040" y="3108960"/>
            <a:ext cx="26517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1089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20040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(Variance-Based)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6144768" y="3566160"/>
            <a:ext cx="2432304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5661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= Var(R)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6144768" y="3977640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or system risk quantified directly as the variance of returns or outcomes.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 Platforms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84048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3840480" cy="411480"/>
          </a:xfrm>
          <a:prstGeom prst="rect">
            <a:avLst/>
          </a:prstGeom>
          <a:solidFill>
            <a:srgbClr val="1A0000"/>
          </a:solidFill>
          <a:ln w="12700">
            <a:solidFill>
              <a:srgbClr val="1A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INDIVIDUAL USER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click / like / share is unpredictable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vary hour to hour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70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modeled deterministically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455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mood, context, notifications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21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— high uncertainty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029200" y="1188720"/>
            <a:ext cx="384048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188720"/>
            <a:ext cx="3840480" cy="411480"/>
          </a:xfrm>
          <a:prstGeom prst="rect">
            <a:avLst/>
          </a:prstGeom>
          <a:solidFill>
            <a:srgbClr val="001A0A"/>
          </a:solidFill>
          <a:ln w="12700">
            <a:solidFill>
              <a:srgbClr val="001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216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AGGREGATE TRENDS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5212080" y="1737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engagement follows stable daily cycles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212080" y="22128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converges to predictable rates (LLN)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212080" y="26883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670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spread modeled via Poisson process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212080" y="316382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31455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 use Markov chains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5212080" y="36393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8112" y="3621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Instagram use these exact models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4178808" y="2514600"/>
            <a:ext cx="786384" cy="786384"/>
          </a:xfrm>
          <a:prstGeom prst="ellipse">
            <a:avLst/>
          </a:prstGeom>
          <a:solidFill>
            <a:srgbClr val="1E293B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8808" y="2514600"/>
            <a:ext cx="7863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MODEL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 Convergence: Random → Stable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— Individual User Path</a:t>
            </a:r>
            <a:endParaRPr lang="en-US" sz="110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143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CLT — Mean Converging to μ</a:t>
            </a:r>
            <a:endParaRPr lang="en-US" sz="110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8" name="Chart 1"/>
          <p:cNvGraphicFramePr/>
          <p:nvPr/>
        </p:nvGraphicFramePr>
        <p:xfrm>
          <a:off x="4846320" y="146304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This Model Is Deployed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05840" y="15179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Social Media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3474720" y="126187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click-through rates, conversion funnels, and engagement drops using Poisson &amp; Markov chains.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20240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005840" y="19751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Prediction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05840" y="22494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474720" y="199339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next-action probabilities using stationary distributions from observed Markov transition matrices.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51760"/>
            <a:ext cx="64008" cy="658368"/>
          </a:xfrm>
          <a:prstGeom prst="rect">
            <a:avLst/>
          </a:prstGeom>
          <a:solidFill>
            <a:srgbClr val="FF2121"/>
          </a:solidFill>
          <a:ln w="12700">
            <a:solidFill>
              <a:srgbClr val="FF21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517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>
              <a:solidFill>
                <a:srgbClr val="FF212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27066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Demand Forecasting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Logistics</a:t>
            </a:r>
            <a:endParaRPr lang="en-US" sz="1000">
              <a:solidFill>
                <a:srgbClr val="FF212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4720" y="272491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arrival rates of requests/users via Poisson; aggregate CLT smooths demand curves over time windows.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8328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83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1005840" y="34381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 Simulation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1005840" y="37124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474720" y="345643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price paths using random walks; use Bayes theorem for real-time signal updating and risk = Var(R).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14800"/>
            <a:ext cx="64008" cy="658368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148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B7FF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>
              <a:solidFill>
                <a:srgbClr val="B7FF35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05840" y="41696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005840" y="44439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7F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Personalization</a:t>
            </a:r>
            <a:endParaRPr lang="en-US" sz="1000">
              <a:solidFill>
                <a:srgbClr val="B7FF35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74720" y="418795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 model browsing paths; stationary distribution reveals long-term content preference patterns.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Known Constraints of the Model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Cannot Predict Individual Behavior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38912" y="1673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yield probabilistic expectations for populations—not deterministic forecasts for single users.</a:t>
            </a:r>
            <a:endParaRPr lang="en-US" sz="105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41148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1460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Probabilistic Assumptions Required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38912" y="2953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assume independence or specific distributional forms (e.g., Poisson, Gaussian) that may not always hold.</a:t>
            </a:r>
            <a:endParaRPr lang="en-US" sz="105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41148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9476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Requires Large Data Volumes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38912" y="4233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LLN and CLT guarantees only hold asymptotically; small samples produce unreliable, high-variance estimates.</a:t>
            </a:r>
            <a:endParaRPr lang="en-US" sz="105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41148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23444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Markov Assumes Limited Memory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919472" y="1673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memoryless property ignores long-range dependencies in user behavior that span multiple sessions.</a:t>
            </a:r>
            <a:endParaRPr lang="en-US" sz="105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1148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514600"/>
            <a:ext cx="6400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Simplifies Real-World Dynamics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919472" y="2953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feedback loops, social contagion, and non-stationarity are not captured in standard Markov/Poisson models.</a:t>
            </a:r>
            <a:endParaRPr lang="en-US" sz="105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This Research Is Heading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Integration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05840" y="15179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931920" y="126187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hand-crafted Markov chains with deep learning models (LSTMs, Transformers) that capture non-Markovian long-range user dependencies.</a:t>
            </a:r>
            <a:endParaRPr lang="en-US" sz="10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20240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005840" y="19751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Analysis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05840" y="22494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931920" y="199339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pipelines (Kafka, Flink) feeding live parameter updates into the simulation for sub-second behavioral predictions.</a:t>
            </a:r>
            <a:endParaRPr lang="en-US" sz="10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5176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517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1005840" y="27066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 with Big Data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931920" y="272491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data narrows CLT confidence intervals, enabling tighter simulations with reduced variance in predicted outcomes.</a:t>
            </a:r>
            <a:endParaRPr lang="en-US" sz="10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8328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83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1005840" y="3438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&amp; Automated Systems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1005840" y="37124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931920" y="345643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flow, energy demand, and public safety resource allocation modeled by stochastic market-making principles at city scale.</a:t>
            </a:r>
            <a:endParaRPr lang="en-US" sz="10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14800"/>
            <a:ext cx="64008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148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10058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Financial Market Simulations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005840" y="44439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931920" y="418795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agent-based + stochastic models simulating order book dynamics, liquidity shocks, and flash crash events.</a:t>
            </a:r>
            <a:endParaRPr lang="en-US" sz="1000" b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44138"/>
            <a:ext cx="2743200" cy="2743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2743200"/>
            <a:ext cx="2286000" cy="2286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02336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40233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Randomness → Macro Stability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LLN proves that unpredictable individuals become a predictable population at scale.</a:t>
            </a:r>
            <a:endParaRPr lang="en-US" sz="11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02336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40233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&amp; Stochastic Models Work</a:t>
            </a:r>
            <a:endParaRPr lang="en-US" sz="1300">
              <a:solidFill>
                <a:srgbClr val="00D4F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3752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 + random walks faithfully reproduce real platform behavioral dynamics.</a:t>
            </a:r>
            <a:endParaRPr lang="en-US" sz="11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02336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88920"/>
            <a:ext cx="402336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Optimization Enabled</a:t>
            </a:r>
            <a:endParaRPr lang="en-US" sz="1300">
              <a:solidFill>
                <a:srgbClr val="00D4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8912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CLT, Bayes, and Poisson together power actionable forecasting and resource optimization.</a:t>
            </a:r>
            <a:endParaRPr lang="en-US" sz="11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02336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788920"/>
            <a:ext cx="4023360" cy="64008"/>
          </a:xfrm>
          <a:prstGeom prst="rect">
            <a:avLst/>
          </a:prstGeom>
          <a:solidFill>
            <a:srgbClr val="00D4FF"/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AI Systems</a:t>
            </a:r>
            <a:endParaRPr lang="en-US" sz="1300">
              <a:solidFill>
                <a:srgbClr val="00D4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73752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classical statistical models underpin modern ML recommendation and simulation engines.</a:t>
            </a:r>
            <a:endParaRPr lang="en-US" sz="11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371600" y="4434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A N K – Y O U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Market Making Simulation</dc:title>
  <dc:subject>PptxGenJS Presentation</dc:subject>
  <dc:creator>PptxGenJS</dc:creator>
  <cp:revision>1</cp:revision>
  <dcterms:created xsi:type="dcterms:W3CDTF">2026-04-15T04:16:34Z</dcterms:created>
  <dcterms:modified xsi:type="dcterms:W3CDTF">2026-04-15T06:26:11Z</dcterms:modified>
</cp:coreProperties>
</file>